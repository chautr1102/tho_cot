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7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10896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800" b="1" i="0">
                <a:solidFill>
                  <a:srgbClr val="A1C1A7"/>
                </a:solidFill>
                <a:latin typeface="Inter"/>
              </a:rPr>
              <a:t>TỔ CHỨC BỞI  </a:t>
            </a:r>
            <a:r>
              <a:rPr sz="1200" b="1" i="0">
                <a:solidFill>
                  <a:srgbClr val="F4FAF5"/>
                </a:solidFill>
                <a:latin typeface="Space Grotesk"/>
              </a:rPr>
              <a:t>DNES · Ecomdy        </a:t>
            </a:r>
            <a:r>
              <a:rPr sz="800" b="1" i="0">
                <a:solidFill>
                  <a:srgbClr val="A1C1A7"/>
                </a:solidFill>
                <a:latin typeface="Inter"/>
              </a:rPr>
              <a:t>ĐỒNG TỔ CHỨC  </a:t>
            </a:r>
            <a:r>
              <a:rPr sz="1200" b="1" i="0">
                <a:solidFill>
                  <a:srgbClr val="F4FAF5"/>
                </a:solidFill>
                <a:latin typeface="Space Grotesk"/>
              </a:rPr>
              <a:t>Printway · BurgerPrints        </a:t>
            </a:r>
            <a:r>
              <a:rPr sz="800" b="1" i="0">
                <a:solidFill>
                  <a:srgbClr val="A1C1A7"/>
                </a:solidFill>
                <a:latin typeface="Inter"/>
              </a:rPr>
              <a:t>POWERED BY  </a:t>
            </a:r>
            <a:r>
              <a:rPr sz="1200" b="1" i="0">
                <a:solidFill>
                  <a:srgbClr val="7EF962"/>
                </a:solidFill>
                <a:latin typeface="Space Grotesk"/>
              </a:rPr>
              <a:t>BytePlus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800" b="1" i="0">
                <a:solidFill>
                  <a:srgbClr val="A1C1A7"/>
                </a:solidFill>
                <a:latin typeface="Inter"/>
              </a:rPr>
              <a:t>TÀI TRỢ VÀNG  </a:t>
            </a:r>
            <a:r>
              <a:rPr sz="1200" b="1" i="0">
                <a:solidFill>
                  <a:srgbClr val="FCBB00"/>
                </a:solidFill>
                <a:latin typeface="Space Grotesk"/>
              </a:rPr>
              <a:t>Kalodata        </a:t>
            </a:r>
            <a:r>
              <a:rPr sz="800" b="1" i="0">
                <a:solidFill>
                  <a:srgbClr val="A1C1A7"/>
                </a:solidFill>
                <a:latin typeface="Inter"/>
              </a:rPr>
              <a:t>TÀI TRỢ ĐỒNG  </a:t>
            </a:r>
            <a:r>
              <a:rPr sz="1200" b="1" i="0">
                <a:solidFill>
                  <a:srgbClr val="F4FAF5"/>
                </a:solidFill>
                <a:latin typeface="Space Grotesk"/>
              </a:rPr>
              <a:t>Wealify        </a:t>
            </a:r>
            <a:r>
              <a:rPr sz="800" b="1" i="0">
                <a:solidFill>
                  <a:srgbClr val="A1C1A7"/>
                </a:solidFill>
                <a:latin typeface="Inter"/>
              </a:rPr>
              <a:t>CROWDFUNDING  </a:t>
            </a:r>
            <a:r>
              <a:rPr sz="1200" b="1" i="0">
                <a:solidFill>
                  <a:srgbClr val="F4FAF5"/>
                </a:solidFill>
                <a:latin typeface="Space Grotesk"/>
              </a:rPr>
              <a:t>PG Prints · GKE · Innovark · LianLian · Fristify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987552"/>
            <a:ext cx="10515600" cy="10972"/>
          </a:xfrm>
          <a:prstGeom prst="rect">
            <a:avLst/>
          </a:prstGeom>
          <a:solidFill>
            <a:srgbClr val="24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65960"/>
            <a:ext cx="2544417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2697480"/>
            <a:ext cx="6903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AF5"/>
                </a:solidFill>
                <a:latin typeface="Space Grotesk"/>
              </a:rPr>
              <a:t>[Tên sản phẩm] </a:t>
            </a:r>
            <a:r>
              <a:rPr sz="4000" b="1" i="0">
                <a:solidFill>
                  <a:srgbClr val="7EF962"/>
                </a:solidFill>
                <a:latin typeface="Space Grotesk"/>
              </a:rPr>
              <a:t>— [tagline ngắn]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389120"/>
            <a:ext cx="6903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C8DDCA"/>
                </a:solidFill>
                <a:latin typeface="Inter"/>
              </a:rPr>
              <a:t>[Mô tả 1–2 câu: sản phẩm là gì, giải quyết vấn đề gì, cho ai, bằng AI như thế nào.]</a:t>
            </a:r>
          </a:p>
        </p:txBody>
      </p:sp>
      <p:sp>
        <p:nvSpPr>
          <p:cNvPr id="9" name="Rectangle 8"/>
          <p:cNvSpPr/>
          <p:nvPr/>
        </p:nvSpPr>
        <p:spPr>
          <a:xfrm>
            <a:off x="8732520" y="2011680"/>
            <a:ext cx="12801" cy="3657600"/>
          </a:xfrm>
          <a:prstGeom prst="rect">
            <a:avLst/>
          </a:prstGeom>
          <a:solidFill>
            <a:srgbClr val="24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121408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A1C1A7"/>
                </a:solidFill>
                <a:latin typeface="Inter"/>
              </a:rPr>
              <a:t>THỜI GIAN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AF5"/>
                </a:solidFill>
                <a:latin typeface="Space Grotesk"/>
              </a:rPr>
              <a:t>21–22.08.2026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834639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A1C1A7"/>
                </a:solidFill>
                <a:latin typeface="Inter"/>
              </a:rPr>
              <a:t>ĐỊA ĐIỂM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AF5"/>
                </a:solidFill>
                <a:latin typeface="Space Grotesk"/>
              </a:rPr>
              <a:t>Hà Nội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54787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A1C1A7"/>
                </a:solidFill>
                <a:latin typeface="Inter"/>
              </a:rPr>
              <a:t>HẠNG MỤC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AF5"/>
                </a:solidFill>
                <a:latin typeface="Space Grotesk"/>
              </a:rPr>
              <a:t>[chọn nhánh]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4261104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A1C1A7"/>
                </a:solidFill>
                <a:latin typeface="Inter"/>
              </a:rPr>
              <a:t>ĐỘI DỰ THI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AF5"/>
                </a:solidFill>
                <a:latin typeface="Space Grotesk"/>
              </a:rPr>
              <a:t>Team Thợ Cốt.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974336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A1C1A7"/>
                </a:solidFill>
                <a:latin typeface="Inter"/>
              </a:rPr>
              <a:t>POWERED BY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7EF962"/>
                </a:solidFill>
                <a:latin typeface="Space Grotesk"/>
              </a:rPr>
              <a:t>BytePlus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7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384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AF5"/>
                </a:solidFill>
                <a:latin typeface="Space Grotesk"/>
              </a:rPr>
              <a:t>THỢ CỐT</a:t>
            </a:r>
            <a:r>
              <a:rPr sz="1200" b="1" i="0">
                <a:solidFill>
                  <a:srgbClr val="7EF962"/>
                </a:solidFill>
                <a:latin typeface="Space Grotesk"/>
              </a:rPr>
              <a:t>.</a:t>
            </a:r>
            <a:r>
              <a:rPr sz="1000" b="0" i="0">
                <a:solidFill>
                  <a:srgbClr val="A1C1A7"/>
                </a:solidFill>
                <a:latin typeface="Inter"/>
              </a:rPr>
              <a:t>   ·   AI Cross-Border Hackathon 2026</a:t>
            </a:r>
          </a:p>
        </p:txBody>
      </p:sp>
      <p:pic>
        <p:nvPicPr>
          <p:cNvPr id="4" name="Picture 3" descr="logo-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29184"/>
            <a:ext cx="1221320" cy="219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AF5"/>
                </a:solidFill>
                <a:latin typeface="Space Grotesk"/>
              </a:rPr>
              <a:t>02</a:t>
            </a:r>
            <a:r>
              <a:rPr sz="1100" b="0" i="0">
                <a:solidFill>
                  <a:srgbClr val="A1C1A7"/>
                </a:solidFill>
                <a:latin typeface="Inter"/>
              </a:rPr>
              <a:t>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EF962"/>
                </a:solidFill>
                <a:latin typeface="Space Grotesk"/>
              </a:rPr>
              <a:t>01</a:t>
            </a:r>
            <a:r>
              <a:rPr sz="1300" b="0" i="0">
                <a:solidFill>
                  <a:srgbClr val="A1C1A7"/>
                </a:solidFill>
                <a:latin typeface="Space Grotesk"/>
              </a:rPr>
              <a:t>   ·   </a:t>
            </a:r>
            <a:r>
              <a:rPr sz="1150" b="1" i="0">
                <a:solidFill>
                  <a:srgbClr val="A1C1A7"/>
                </a:solidFill>
                <a:latin typeface="Space Grotesk"/>
              </a:rPr>
              <a:t>VẤN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6126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1">
                <a:solidFill>
                  <a:srgbClr val="F4FAF5"/>
                </a:solidFill>
                <a:latin typeface="Space Grotesk"/>
              </a:rPr>
              <a:t>[Một câu tuyên bố nỗi đau — VD: “Một lối đi cho tất cả.”]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383280"/>
            <a:ext cx="5760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C8DDCA"/>
                </a:solidFill>
                <a:latin typeface="Inter"/>
              </a:rPr>
              <a:t>[2–3 dòng: ai đang gặp vấn đề gì, vì sao cách làm hiện tại thất bại.]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9768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7EF962"/>
                </a:solidFill>
                <a:latin typeface="Space Grotesk"/>
              </a:rPr>
              <a:t>[XX%]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4590288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F4FAF5"/>
                </a:solidFill>
                <a:latin typeface="Inter"/>
              </a:rPr>
              <a:t>[điều gì đang tệ — VD: bỏ cuộc trước khi hoàn thành]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4884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7EF962"/>
                </a:solidFill>
                <a:latin typeface="Space Grotesk"/>
              </a:rPr>
              <a:t>[&lt;10%]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788920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1C1A7"/>
                </a:solidFill>
                <a:latin typeface="Inter"/>
              </a:rPr>
              <a:t>[số liệu hỗ trợ 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3264408"/>
            <a:ext cx="3840480" cy="9144"/>
          </a:xfrm>
          <a:prstGeom prst="rect">
            <a:avLst/>
          </a:prstGeom>
          <a:solidFill>
            <a:srgbClr val="24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65576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CBB00"/>
                </a:solidFill>
                <a:latin typeface="Space Grotesk"/>
              </a:rPr>
              <a:t>[~50%]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105656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1C1A7"/>
                </a:solidFill>
                <a:latin typeface="Inter"/>
              </a:rPr>
              <a:t>[số liệu hỗ trợ 2]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4581144"/>
            <a:ext cx="3840480" cy="9144"/>
          </a:xfrm>
          <a:prstGeom prst="rect">
            <a:avLst/>
          </a:prstGeom>
          <a:solidFill>
            <a:srgbClr val="24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782312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1">
                <a:solidFill>
                  <a:srgbClr val="F4FAF5"/>
                </a:solidFill>
                <a:latin typeface="Space Grotesk"/>
              </a:rPr>
              <a:t>[Insight]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239512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F4FAF5"/>
                </a:solidFill>
                <a:latin typeface="Inter"/>
              </a:rPr>
              <a:t>[giải pháp lý tưởng đã có nhưng quá đắt để nhân rộng]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7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384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AF5"/>
                </a:solidFill>
                <a:latin typeface="Space Grotesk"/>
              </a:rPr>
              <a:t>THỢ CỐT</a:t>
            </a:r>
            <a:r>
              <a:rPr sz="1200" b="1" i="0">
                <a:solidFill>
                  <a:srgbClr val="7EF962"/>
                </a:solidFill>
                <a:latin typeface="Space Grotesk"/>
              </a:rPr>
              <a:t>.</a:t>
            </a:r>
            <a:r>
              <a:rPr sz="1000" b="0" i="0">
                <a:solidFill>
                  <a:srgbClr val="A1C1A7"/>
                </a:solidFill>
                <a:latin typeface="Inter"/>
              </a:rPr>
              <a:t>   ·   AI Cross-Border Hackathon 2026</a:t>
            </a:r>
          </a:p>
        </p:txBody>
      </p:sp>
      <p:pic>
        <p:nvPicPr>
          <p:cNvPr id="4" name="Picture 3" descr="logo-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29184"/>
            <a:ext cx="1221320" cy="219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AF5"/>
                </a:solidFill>
                <a:latin typeface="Space Grotesk"/>
              </a:rPr>
              <a:t>03</a:t>
            </a:r>
            <a:r>
              <a:rPr sz="1100" b="0" i="0">
                <a:solidFill>
                  <a:srgbClr val="A1C1A7"/>
                </a:solidFill>
                <a:latin typeface="Inter"/>
              </a:rPr>
              <a:t>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EF962"/>
                </a:solidFill>
                <a:latin typeface="Space Grotesk"/>
              </a:rPr>
              <a:t>02</a:t>
            </a:r>
            <a:r>
              <a:rPr sz="1300" b="0" i="0">
                <a:solidFill>
                  <a:srgbClr val="A1C1A7"/>
                </a:solidFill>
                <a:latin typeface="Space Grotesk"/>
              </a:rPr>
              <a:t>   ·   </a:t>
            </a:r>
            <a:r>
              <a:rPr sz="1150" b="1" i="0">
                <a:solidFill>
                  <a:srgbClr val="A1C1A7"/>
                </a:solidFill>
                <a:latin typeface="Space Grotesk"/>
              </a:rPr>
              <a:t>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10241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7EF962"/>
                </a:solidFill>
                <a:latin typeface="Space Grotesk"/>
              </a:rPr>
              <a:t>[Sản phẩm] </a:t>
            </a:r>
            <a:r>
              <a:rPr sz="3200" b="1" i="1">
                <a:solidFill>
                  <a:srgbClr val="F4FAF5"/>
                </a:solidFill>
                <a:latin typeface="Space Grotesk"/>
              </a:rPr>
              <a:t>[làm gì, cho ai, bằng AI]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5661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7EF962"/>
                </a:solidFill>
                <a:latin typeface="Space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245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1">
                <a:solidFill>
                  <a:srgbClr val="F4FAF5"/>
                </a:solidFill>
                <a:latin typeface="Space Grotesk"/>
              </a:rPr>
              <a:t>[Tính năng lõi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68172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A1C1A7"/>
                </a:solidFill>
                <a:latin typeface="Inter"/>
              </a:rPr>
              <a:t>[Giá trị cụ thể, đo được nếu có]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3611880"/>
            <a:ext cx="10972" cy="1828800"/>
          </a:xfrm>
          <a:prstGeom prst="rect">
            <a:avLst/>
          </a:prstGeom>
          <a:solidFill>
            <a:srgbClr val="24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35661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7EF962"/>
                </a:solidFill>
                <a:latin typeface="Space Grotes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42245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1">
                <a:solidFill>
                  <a:srgbClr val="F4FAF5"/>
                </a:solidFill>
                <a:latin typeface="Space Grotesk"/>
              </a:rPr>
              <a:t>[Tính năng lõi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468172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A1C1A7"/>
                </a:solidFill>
                <a:latin typeface="Inter"/>
              </a:rPr>
              <a:t>[Giá trị cụ thể]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3611880"/>
            <a:ext cx="10972" cy="1828800"/>
          </a:xfrm>
          <a:prstGeom prst="rect">
            <a:avLst/>
          </a:prstGeom>
          <a:solidFill>
            <a:srgbClr val="24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0144" y="35661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7EF962"/>
                </a:solidFill>
                <a:latin typeface="Space Grotes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42245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1">
                <a:solidFill>
                  <a:srgbClr val="F4FAF5"/>
                </a:solidFill>
                <a:latin typeface="Space Grotesk"/>
              </a:rPr>
              <a:t>[Tính năng lõi 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468172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A1C1A7"/>
                </a:solidFill>
                <a:latin typeface="Inter"/>
              </a:rPr>
              <a:t>[Giá trị cụ thể]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7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384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AF5"/>
                </a:solidFill>
                <a:latin typeface="Space Grotesk"/>
              </a:rPr>
              <a:t>THỢ CỐT</a:t>
            </a:r>
            <a:r>
              <a:rPr sz="1200" b="1" i="0">
                <a:solidFill>
                  <a:srgbClr val="7EF962"/>
                </a:solidFill>
                <a:latin typeface="Space Grotesk"/>
              </a:rPr>
              <a:t>.</a:t>
            </a:r>
            <a:r>
              <a:rPr sz="1000" b="0" i="0">
                <a:solidFill>
                  <a:srgbClr val="A1C1A7"/>
                </a:solidFill>
                <a:latin typeface="Inter"/>
              </a:rPr>
              <a:t>   ·   AI Cross-Border Hackathon 2026</a:t>
            </a:r>
          </a:p>
        </p:txBody>
      </p:sp>
      <p:pic>
        <p:nvPicPr>
          <p:cNvPr id="4" name="Picture 3" descr="logo-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29184"/>
            <a:ext cx="1221320" cy="219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AF5"/>
                </a:solidFill>
                <a:latin typeface="Space Grotesk"/>
              </a:rPr>
              <a:t>04</a:t>
            </a:r>
            <a:r>
              <a:rPr sz="1100" b="0" i="0">
                <a:solidFill>
                  <a:srgbClr val="A1C1A7"/>
                </a:solidFill>
                <a:latin typeface="Inter"/>
              </a:rPr>
              <a:t>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EF962"/>
                </a:solidFill>
                <a:latin typeface="Space Grotesk"/>
              </a:rPr>
              <a:t>03</a:t>
            </a:r>
            <a:r>
              <a:rPr sz="1300" b="0" i="0">
                <a:solidFill>
                  <a:srgbClr val="A1C1A7"/>
                </a:solidFill>
                <a:latin typeface="Space Grotesk"/>
              </a:rPr>
              <a:t>   ·   </a:t>
            </a:r>
            <a:r>
              <a:rPr sz="1150" b="1" i="0">
                <a:solidFill>
                  <a:srgbClr val="A1C1A7"/>
                </a:solidFill>
                <a:latin typeface="Space Grotesk"/>
              </a:rP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4FAF5"/>
                </a:solidFill>
                <a:latin typeface="Space Grotesk"/>
              </a:rPr>
              <a:t>Thấy là 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788920"/>
            <a:ext cx="10515600" cy="3108960"/>
          </a:xfrm>
          <a:prstGeom prst="roundRect">
            <a:avLst>
              <a:gd name="adj" fmla="val 6000"/>
            </a:avLst>
          </a:prstGeom>
          <a:solidFill>
            <a:srgbClr val="00220E"/>
          </a:solidFill>
          <a:ln w="12700">
            <a:solidFill>
              <a:srgbClr val="24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F4FAF5"/>
                </a:solidFill>
                <a:latin typeface="Space Grotesk"/>
              </a:rPr>
              <a:t>[ Chèn ảnh / video demo sản phẩm ]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A1C1A7"/>
                </a:solidFill>
                <a:latin typeface="Inter"/>
              </a:rPr>
              <a:t>Screenshot flow chính · hoặc link demo trực tiếp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7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384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AF5"/>
                </a:solidFill>
                <a:latin typeface="Space Grotesk"/>
              </a:rPr>
              <a:t>THỢ CỐT</a:t>
            </a:r>
            <a:r>
              <a:rPr sz="1200" b="1" i="0">
                <a:solidFill>
                  <a:srgbClr val="7EF962"/>
                </a:solidFill>
                <a:latin typeface="Space Grotesk"/>
              </a:rPr>
              <a:t>.</a:t>
            </a:r>
            <a:r>
              <a:rPr sz="1000" b="0" i="0">
                <a:solidFill>
                  <a:srgbClr val="A1C1A7"/>
                </a:solidFill>
                <a:latin typeface="Inter"/>
              </a:rPr>
              <a:t>   ·   AI Cross-Border Hackathon 2026</a:t>
            </a:r>
          </a:p>
        </p:txBody>
      </p:sp>
      <p:pic>
        <p:nvPicPr>
          <p:cNvPr id="4" name="Picture 3" descr="logo-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29184"/>
            <a:ext cx="1221320" cy="219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AF5"/>
                </a:solidFill>
                <a:latin typeface="Space Grotesk"/>
              </a:rPr>
              <a:t>05</a:t>
            </a:r>
            <a:r>
              <a:rPr sz="1100" b="0" i="0">
                <a:solidFill>
                  <a:srgbClr val="A1C1A7"/>
                </a:solidFill>
                <a:latin typeface="Inter"/>
              </a:rPr>
              <a:t>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EF962"/>
                </a:solidFill>
                <a:latin typeface="Space Grotesk"/>
              </a:rPr>
              <a:t>04</a:t>
            </a:r>
            <a:r>
              <a:rPr sz="1300" b="0" i="0">
                <a:solidFill>
                  <a:srgbClr val="A1C1A7"/>
                </a:solidFill>
                <a:latin typeface="Space Grotesk"/>
              </a:rPr>
              <a:t>   ·   </a:t>
            </a:r>
            <a:r>
              <a:rPr sz="1150" b="1" i="0">
                <a:solidFill>
                  <a:srgbClr val="A1C1A7"/>
                </a:solidFill>
                <a:latin typeface="Space Grotesk"/>
              </a:rPr>
              <a:t>CÔNG NGHỆ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4FAF5"/>
                </a:solidFill>
                <a:latin typeface="Space Grotesk"/>
              </a:rPr>
              <a:t>Kiến trúc gọn, AI đúng chỗ.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92608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001E0C"/>
          </a:solidFill>
          <a:ln w="12700">
            <a:solidFill>
              <a:srgbClr val="24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F4FAF5"/>
                </a:solidFill>
                <a:latin typeface="Space Grotesk"/>
              </a:rPr>
              <a:t>[Input]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A1C1A7"/>
                </a:solidFill>
                <a:latin typeface="Inter"/>
              </a:rPr>
              <a:t>[Dữ liệu / yêu cầu từ doanh nghiệp]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3200400"/>
            <a:ext cx="594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7EF962"/>
                </a:solidFill>
                <a:latin typeface="Space Grotesk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6008" y="292608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001E0C"/>
          </a:solidFill>
          <a:ln w="12700">
            <a:solidFill>
              <a:srgbClr val="35E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7EF962"/>
                </a:solidFill>
                <a:latin typeface="Space Grotesk"/>
              </a:rPr>
              <a:t>Lõi AI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A1C1A7"/>
                </a:solidFill>
                <a:latin typeface="Inter"/>
              </a:rPr>
              <a:t>Claude API · [+ BytePlus]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3200400"/>
            <a:ext cx="594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7EF962"/>
                </a:solidFill>
                <a:latin typeface="Space Grotesk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30768" y="292608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001E0C"/>
          </a:solidFill>
          <a:ln w="12700">
            <a:solidFill>
              <a:srgbClr val="24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F4FAF5"/>
                </a:solidFill>
                <a:latin typeface="Space Grotesk"/>
              </a:rPr>
              <a:t>[Output]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A1C1A7"/>
                </a:solidFill>
                <a:latin typeface="Inter"/>
              </a:rPr>
              <a:t>[Kết quả cho người dùng]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70916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012A14"/>
          </a:solidFill>
          <a:ln w="12700">
            <a:solidFill>
              <a:srgbClr val="35E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7EF962"/>
                </a:solidFill>
                <a:latin typeface="Inter"/>
              </a:rPr>
              <a:t>Claude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50008" y="4709160"/>
            <a:ext cx="1133856" cy="457200"/>
          </a:xfrm>
          <a:prstGeom prst="roundRect">
            <a:avLst>
              <a:gd name="adj" fmla="val 50000"/>
            </a:avLst>
          </a:prstGeom>
          <a:solidFill>
            <a:srgbClr val="012A14"/>
          </a:solidFill>
          <a:ln w="12700">
            <a:solidFill>
              <a:srgbClr val="24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4FAF5"/>
                </a:solidFill>
                <a:latin typeface="Inter"/>
              </a:rPr>
              <a:t>BytePlus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48456" y="4709160"/>
            <a:ext cx="1239012" cy="457200"/>
          </a:xfrm>
          <a:prstGeom prst="roundRect">
            <a:avLst>
              <a:gd name="adj" fmla="val 50000"/>
            </a:avLst>
          </a:prstGeom>
          <a:solidFill>
            <a:srgbClr val="012A14"/>
          </a:solidFill>
          <a:ln w="12700">
            <a:solidFill>
              <a:srgbClr val="24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4FAF5"/>
                </a:solidFill>
                <a:latin typeface="Inter"/>
              </a:rPr>
              <a:t>[Backend]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2060" y="470916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012A14"/>
          </a:solidFill>
          <a:ln w="12700">
            <a:solidFill>
              <a:srgbClr val="24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4FAF5"/>
                </a:solidFill>
                <a:latin typeface="Inter"/>
              </a:rPr>
              <a:t>[Frontend]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0820" y="470916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012A14"/>
          </a:solidFill>
          <a:ln w="12700">
            <a:solidFill>
              <a:srgbClr val="24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4FAF5"/>
                </a:solidFill>
                <a:latin typeface="Inter"/>
              </a:rPr>
              <a:t>[Database]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9580" y="4709160"/>
            <a:ext cx="1133856" cy="457200"/>
          </a:xfrm>
          <a:prstGeom prst="roundRect">
            <a:avLst>
              <a:gd name="adj" fmla="val 50000"/>
            </a:avLst>
          </a:prstGeom>
          <a:solidFill>
            <a:srgbClr val="012A14"/>
          </a:solidFill>
          <a:ln w="12700">
            <a:solidFill>
              <a:srgbClr val="24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4FAF5"/>
                </a:solidFill>
                <a:latin typeface="Inter"/>
              </a:rPr>
              <a:t>[Deploy]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5321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A1C1A7"/>
                </a:solidFill>
                <a:latin typeface="Inter"/>
              </a:rPr>
              <a:t>💡 Mẹo: ghép BytePlus để “ăn” +5đ thưởng sponsor (xem docs/thong-tin-cuoc-thi.md).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7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384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AF5"/>
                </a:solidFill>
                <a:latin typeface="Space Grotesk"/>
              </a:rPr>
              <a:t>THỢ CỐT</a:t>
            </a:r>
            <a:r>
              <a:rPr sz="1200" b="1" i="0">
                <a:solidFill>
                  <a:srgbClr val="7EF962"/>
                </a:solidFill>
                <a:latin typeface="Space Grotesk"/>
              </a:rPr>
              <a:t>.</a:t>
            </a:r>
            <a:r>
              <a:rPr sz="1000" b="0" i="0">
                <a:solidFill>
                  <a:srgbClr val="A1C1A7"/>
                </a:solidFill>
                <a:latin typeface="Inter"/>
              </a:rPr>
              <a:t>   ·   AI Cross-Border Hackathon 2026</a:t>
            </a:r>
          </a:p>
        </p:txBody>
      </p:sp>
      <p:pic>
        <p:nvPicPr>
          <p:cNvPr id="4" name="Picture 3" descr="logo-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29184"/>
            <a:ext cx="1221320" cy="219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AF5"/>
                </a:solidFill>
                <a:latin typeface="Space Grotesk"/>
              </a:rPr>
              <a:t>06</a:t>
            </a:r>
            <a:r>
              <a:rPr sz="1100" b="0" i="0">
                <a:solidFill>
                  <a:srgbClr val="A1C1A7"/>
                </a:solidFill>
                <a:latin typeface="Inter"/>
              </a:rPr>
              <a:t>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EF962"/>
                </a:solidFill>
                <a:latin typeface="Space Grotesk"/>
              </a:rPr>
              <a:t>05</a:t>
            </a:r>
            <a:r>
              <a:rPr sz="1300" b="0" i="0">
                <a:solidFill>
                  <a:srgbClr val="A1C1A7"/>
                </a:solidFill>
                <a:latin typeface="Space Grotesk"/>
              </a:rPr>
              <a:t>   ·   </a:t>
            </a:r>
            <a:r>
              <a:rPr sz="1150" b="1" i="0">
                <a:solidFill>
                  <a:srgbClr val="A1C1A7"/>
                </a:solidFill>
                <a:latin typeface="Space Grotesk"/>
              </a:rPr>
              <a:t>TÁC ĐỘNG &amp; THỊ TRƯỜNG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6035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4FAF5"/>
                </a:solidFill>
                <a:latin typeface="Space Grotesk"/>
              </a:rPr>
              <a:t>Vì sao </a:t>
            </a:r>
            <a:r>
              <a:rPr sz="3000" b="1" i="0">
                <a:solidFill>
                  <a:srgbClr val="7EF962"/>
                </a:solidFill>
                <a:latin typeface="Space Grotesk"/>
              </a:rPr>
              <a:t>cross-border</a:t>
            </a:r>
            <a:r>
              <a:rPr sz="3000" b="1" i="0">
                <a:solidFill>
                  <a:srgbClr val="F4FAF5"/>
                </a:solidFill>
                <a:latin typeface="Space Grotesk"/>
              </a:rPr>
              <a:t>, vì sao bây giờ.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52044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7EF962"/>
                </a:solidFill>
                <a:latin typeface="Space Grotesk"/>
              </a:rPr>
              <a:t>[$X]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3813048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F4FAF5"/>
                </a:solidFill>
                <a:latin typeface="Inter"/>
              </a:rPr>
              <a:t>[Quy mô thị trường / TAM có thể chạm tới]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074920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A1C1A7"/>
                </a:solidFill>
                <a:latin typeface="Inter"/>
              </a:rPr>
              <a:t>[1 câu: TMĐT xuyên biên giới VN đang bùng nổ + AI đủ rẻ/mạnh = thời điểm vàng.]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4884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7EF962"/>
                </a:solidFill>
                <a:latin typeface="Space Grotesk"/>
              </a:rPr>
              <a:t>[Nx]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75234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1C1A7"/>
                </a:solidFill>
                <a:latin typeface="Inter"/>
              </a:rPr>
              <a:t>[nhanh hơn / tiết kiệm so với cách cũ]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3246120"/>
            <a:ext cx="3840480" cy="9144"/>
          </a:xfrm>
          <a:prstGeom prst="rect">
            <a:avLst/>
          </a:prstGeom>
          <a:solidFill>
            <a:srgbClr val="24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47288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CBB00"/>
                </a:solidFill>
                <a:latin typeface="Space Grotesk"/>
              </a:rPr>
              <a:t>[+Y%]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05079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1C1A7"/>
                </a:solidFill>
                <a:latin typeface="Inter"/>
              </a:rPr>
              <a:t>[tăng doanh thu / hiệu quả cho khách hàng]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4544568"/>
            <a:ext cx="3840480" cy="9144"/>
          </a:xfrm>
          <a:prstGeom prst="rect">
            <a:avLst/>
          </a:prstGeom>
          <a:solidFill>
            <a:srgbClr val="24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745736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7EF962"/>
                </a:solidFill>
                <a:latin typeface="Space Grotesk"/>
              </a:rPr>
              <a:t>[Z]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34924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1C1A7"/>
                </a:solidFill>
                <a:latin typeface="Inter"/>
              </a:rPr>
              <a:t>[chỉ số thứ 3 — người dùng, đơn hàng…]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7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384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AF5"/>
                </a:solidFill>
                <a:latin typeface="Space Grotesk"/>
              </a:rPr>
              <a:t>THỢ CỐT</a:t>
            </a:r>
            <a:r>
              <a:rPr sz="1200" b="1" i="0">
                <a:solidFill>
                  <a:srgbClr val="7EF962"/>
                </a:solidFill>
                <a:latin typeface="Space Grotesk"/>
              </a:rPr>
              <a:t>.</a:t>
            </a:r>
            <a:r>
              <a:rPr sz="1000" b="0" i="0">
                <a:solidFill>
                  <a:srgbClr val="A1C1A7"/>
                </a:solidFill>
                <a:latin typeface="Inter"/>
              </a:rPr>
              <a:t>   ·   AI Cross-Border Hackathon 2026</a:t>
            </a:r>
          </a:p>
        </p:txBody>
      </p:sp>
      <p:pic>
        <p:nvPicPr>
          <p:cNvPr id="4" name="Picture 3" descr="logo-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29184"/>
            <a:ext cx="1221320" cy="219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AF5"/>
                </a:solidFill>
                <a:latin typeface="Space Grotesk"/>
              </a:rPr>
              <a:t>07</a:t>
            </a:r>
            <a:r>
              <a:rPr sz="1100" b="0" i="0">
                <a:solidFill>
                  <a:srgbClr val="A1C1A7"/>
                </a:solidFill>
                <a:latin typeface="Inter"/>
              </a:rPr>
              <a:t>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EF962"/>
                </a:solidFill>
                <a:latin typeface="Space Grotesk"/>
              </a:rPr>
              <a:t>06</a:t>
            </a:r>
            <a:r>
              <a:rPr sz="1300" b="0" i="0">
                <a:solidFill>
                  <a:srgbClr val="A1C1A7"/>
                </a:solidFill>
                <a:latin typeface="Space Grotesk"/>
              </a:rPr>
              <a:t>   ·   </a:t>
            </a:r>
            <a:r>
              <a:rPr sz="1150" b="1" i="0">
                <a:solidFill>
                  <a:srgbClr val="A1C1A7"/>
                </a:solidFill>
                <a:latin typeface="Space Grotesk"/>
              </a:rPr>
              <a:t>MÔ HÌNH &amp; LỘ TRÌNH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4FAF5"/>
                </a:solidFill>
                <a:latin typeface="Space Grotesk"/>
              </a:rPr>
              <a:t>Từ nguyên mẫu đến thị trường.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974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C8DDCA"/>
                </a:solidFill>
                <a:latin typeface="Inter"/>
              </a:rPr>
              <a:t>[Mô hình doanh thu 1 dòng — VD: SaaS theo tháng / phí theo giao dịch]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3840480"/>
            <a:ext cx="10058400" cy="18288"/>
          </a:xfrm>
          <a:prstGeom prst="rect">
            <a:avLst/>
          </a:prstGeom>
          <a:solidFill>
            <a:srgbClr val="24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3758184"/>
            <a:ext cx="182880" cy="182880"/>
          </a:xfrm>
          <a:prstGeom prst="ellipse">
            <a:avLst/>
          </a:prstGeom>
          <a:solidFill>
            <a:srgbClr val="001708"/>
          </a:solidFill>
          <a:ln w="27940">
            <a:solidFill>
              <a:srgbClr val="7EF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0782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EF962"/>
                </a:solidFill>
                <a:latin typeface="Space Grotesk"/>
              </a:rPr>
              <a:t>BƯỚC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37083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4FAF5"/>
                </a:solidFill>
                <a:latin typeface="Space Grotesk"/>
              </a:rPr>
              <a:t>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7548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1C1A7"/>
                </a:solidFill>
                <a:latin typeface="Inter"/>
              </a:rPr>
              <a:t>Nguyên mẫu AI chạy được (48h)</a:t>
            </a:r>
          </a:p>
        </p:txBody>
      </p:sp>
      <p:sp>
        <p:nvSpPr>
          <p:cNvPr id="14" name="Oval 13"/>
          <p:cNvSpPr/>
          <p:nvPr/>
        </p:nvSpPr>
        <p:spPr>
          <a:xfrm>
            <a:off x="3538728" y="3758184"/>
            <a:ext cx="182880" cy="182880"/>
          </a:xfrm>
          <a:prstGeom prst="ellipse">
            <a:avLst/>
          </a:prstGeom>
          <a:solidFill>
            <a:srgbClr val="001708"/>
          </a:solidFill>
          <a:ln w="27940">
            <a:solidFill>
              <a:srgbClr val="7EF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40782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EF962"/>
                </a:solidFill>
                <a:latin typeface="Space Grotesk"/>
              </a:rPr>
              <a:t>BƯỚC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437083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4FAF5"/>
                </a:solidFill>
                <a:latin typeface="Space Grotesk"/>
              </a:rPr>
              <a:t>POC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47548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1C1A7"/>
                </a:solidFill>
                <a:latin typeface="Inter"/>
              </a:rPr>
              <a:t>Thử nghiệm với 1 doanh nghiệp thật</a:t>
            </a:r>
          </a:p>
        </p:txBody>
      </p:sp>
      <p:sp>
        <p:nvSpPr>
          <p:cNvPr id="18" name="Oval 17"/>
          <p:cNvSpPr/>
          <p:nvPr/>
        </p:nvSpPr>
        <p:spPr>
          <a:xfrm>
            <a:off x="6236208" y="3758184"/>
            <a:ext cx="182880" cy="182880"/>
          </a:xfrm>
          <a:prstGeom prst="ellipse">
            <a:avLst/>
          </a:prstGeom>
          <a:solidFill>
            <a:srgbClr val="001708"/>
          </a:solidFill>
          <a:ln w="27940">
            <a:solidFill>
              <a:srgbClr val="FCB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40782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CBB00"/>
                </a:solidFill>
                <a:latin typeface="Space Grotesk"/>
              </a:rPr>
              <a:t>BƯỚC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437083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CBB00"/>
                </a:solidFill>
                <a:latin typeface="Space Grotesk"/>
              </a:rPr>
              <a:t>DNES Incubation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47548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1C1A7"/>
                </a:solidFill>
                <a:latin typeface="Inter"/>
              </a:rPr>
              <a:t>Top 10 · mentor · nhà đầu tư</a:t>
            </a:r>
          </a:p>
        </p:txBody>
      </p:sp>
      <p:sp>
        <p:nvSpPr>
          <p:cNvPr id="22" name="Oval 21"/>
          <p:cNvSpPr/>
          <p:nvPr/>
        </p:nvSpPr>
        <p:spPr>
          <a:xfrm>
            <a:off x="8933688" y="3758184"/>
            <a:ext cx="182880" cy="182880"/>
          </a:xfrm>
          <a:prstGeom prst="ellipse">
            <a:avLst/>
          </a:prstGeom>
          <a:solidFill>
            <a:srgbClr val="001708"/>
          </a:solidFill>
          <a:ln w="27940">
            <a:solidFill>
              <a:srgbClr val="7EF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3688" y="40782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EF962"/>
                </a:solidFill>
                <a:latin typeface="Space Grotesk"/>
              </a:rPr>
              <a:t>BƯỚC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437083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4FAF5"/>
                </a:solidFill>
                <a:latin typeface="Space Grotesk"/>
              </a:rPr>
              <a:t>Ra thị trường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47548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A1C1A7"/>
                </a:solidFill>
                <a:latin typeface="Inter"/>
              </a:rPr>
              <a:t>Khách hàng đầu tiên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7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3840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AF5"/>
                </a:solidFill>
                <a:latin typeface="Space Grotesk"/>
              </a:rPr>
              <a:t>THỢ CỐT</a:t>
            </a:r>
            <a:r>
              <a:rPr sz="1200" b="1" i="0">
                <a:solidFill>
                  <a:srgbClr val="7EF962"/>
                </a:solidFill>
                <a:latin typeface="Space Grotesk"/>
              </a:rPr>
              <a:t>.</a:t>
            </a:r>
            <a:r>
              <a:rPr sz="1000" b="0" i="0">
                <a:solidFill>
                  <a:srgbClr val="A1C1A7"/>
                </a:solidFill>
                <a:latin typeface="Inter"/>
              </a:rPr>
              <a:t>   ·   AI Cross-Border Hackathon 2026</a:t>
            </a:r>
          </a:p>
        </p:txBody>
      </p:sp>
      <p:pic>
        <p:nvPicPr>
          <p:cNvPr id="4" name="Picture 3" descr="logo-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329184"/>
            <a:ext cx="1221320" cy="219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AF5"/>
                </a:solidFill>
                <a:latin typeface="Space Grotesk"/>
              </a:rPr>
              <a:t>08</a:t>
            </a:r>
            <a:r>
              <a:rPr sz="1100" b="0" i="0">
                <a:solidFill>
                  <a:srgbClr val="A1C1A7"/>
                </a:solidFill>
                <a:latin typeface="Inter"/>
              </a:rPr>
              <a:t>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8930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EF962"/>
                </a:solidFill>
                <a:latin typeface="Space Grotesk"/>
              </a:rPr>
              <a:t>07</a:t>
            </a:r>
            <a:r>
              <a:rPr sz="1300" b="0" i="0">
                <a:solidFill>
                  <a:srgbClr val="A1C1A7"/>
                </a:solidFill>
                <a:latin typeface="Space Grotesk"/>
              </a:rPr>
              <a:t>   ·   </a:t>
            </a:r>
            <a:r>
              <a:rPr sz="1150" b="1" i="0">
                <a:solidFill>
                  <a:srgbClr val="A1C1A7"/>
                </a:solidFill>
                <a:latin typeface="Space Grotesk"/>
              </a:rPr>
              <a:t>ĐỘI NGŨ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4FAF5"/>
                </a:solidFill>
                <a:latin typeface="Space Grotesk"/>
              </a:rPr>
              <a:t>Team </a:t>
            </a:r>
            <a:r>
              <a:rPr sz="3400" b="1" i="0">
                <a:solidFill>
                  <a:srgbClr val="7EF962"/>
                </a:solidFill>
                <a:latin typeface="Space Grotesk"/>
              </a:rPr>
              <a:t>Thợ Cốt</a:t>
            </a:r>
            <a:r>
              <a:rPr sz="3400" b="1" i="0">
                <a:solidFill>
                  <a:srgbClr val="F4FAF5"/>
                </a:solidFill>
                <a:latin typeface="Space Grotesk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06324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023A1C"/>
          </a:solidFill>
          <a:ln w="12700">
            <a:solidFill>
              <a:srgbClr val="24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EF962"/>
                </a:solidFill>
                <a:latin typeface="Space Grotesk"/>
              </a:rPr>
              <a:t>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0233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AF5"/>
                </a:solidFill>
                <a:latin typeface="Space Grotesk"/>
              </a:rPr>
              <a:t>[Tên]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7083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A1C1A7"/>
                </a:solidFill>
                <a:latin typeface="Inter"/>
              </a:rPr>
              <a:t>[Vai trò]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06324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023A1C"/>
          </a:solidFill>
          <a:ln w="12700">
            <a:solidFill>
              <a:srgbClr val="24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EF962"/>
                </a:solidFill>
                <a:latin typeface="Space Grotesk"/>
              </a:rPr>
              <a:t>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0233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AF5"/>
                </a:solidFill>
                <a:latin typeface="Space Grotesk"/>
              </a:rPr>
              <a:t>[Tên]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37083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A1C1A7"/>
                </a:solidFill>
                <a:latin typeface="Inter"/>
              </a:rPr>
              <a:t>[Vai trò]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306324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023A1C"/>
          </a:solidFill>
          <a:ln w="12700">
            <a:solidFill>
              <a:srgbClr val="24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EF962"/>
                </a:solidFill>
                <a:latin typeface="Space Grotesk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0233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AF5"/>
                </a:solidFill>
                <a:latin typeface="Space Grotesk"/>
              </a:rPr>
              <a:t>[Tên]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37083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A1C1A7"/>
                </a:solidFill>
                <a:latin typeface="Inter"/>
              </a:rPr>
              <a:t>[Vai trò]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306324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023A1C"/>
          </a:solidFill>
          <a:ln w="12700">
            <a:solidFill>
              <a:srgbClr val="24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7EF962"/>
                </a:solidFill>
                <a:latin typeface="Space Grotesk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40233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AF5"/>
                </a:solidFill>
                <a:latin typeface="Space Grotesk"/>
              </a:rPr>
              <a:t>[Tên]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437083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A1C1A7"/>
                </a:solidFill>
                <a:latin typeface="Inter"/>
              </a:rPr>
              <a:t>[Vai trò]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285232"/>
            <a:ext cx="2743200" cy="621792"/>
          </a:xfrm>
          <a:prstGeom prst="roundRect">
            <a:avLst>
              <a:gd name="adj" fmla="val 50000"/>
            </a:avLst>
          </a:prstGeom>
          <a:solidFill>
            <a:srgbClr val="FE6E00"/>
          </a:solidFill>
          <a:ln w="12700">
            <a:solidFill>
              <a:srgbClr val="FE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A0E00"/>
                </a:solidFill>
                <a:latin typeface="Space Grotesk"/>
              </a:rPr>
              <a:t>Cảm ơn &amp; Q/A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4488" y="5394960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A1C1A7"/>
                </a:solidFill>
                <a:latin typeface="Inter"/>
              </a:rPr>
              <a:t>[email · SĐT · link demo]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